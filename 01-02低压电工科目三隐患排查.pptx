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68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1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亁业考点低压电工</a:t>
            </a:r>
            <a:br>
              <a:rPr lang="zh-CN" altLang="en-US"/>
            </a:br>
            <a:r>
              <a:rPr lang="zh-CN" altLang="en-US"/>
              <a:t>科目三  隐患排查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478530" cy="4351655"/>
          </a:xfrm>
        </p:spPr>
        <p:txBody>
          <a:bodyPr/>
          <a:p>
            <a:r>
              <a:rPr lang="en-US" altLang="zh-CN" sz="3200"/>
              <a:t>1.</a:t>
            </a:r>
            <a:r>
              <a:rPr lang="zh-CN" altLang="en-US" sz="3200"/>
              <a:t>采用金属丝绑扎流动电箱的电源线；</a:t>
            </a:r>
            <a:endParaRPr lang="zh-CN" altLang="en-US" sz="3200"/>
          </a:p>
          <a:p>
            <a:r>
              <a:rPr lang="zh-CN" altLang="en-US" sz="3200"/>
              <a:t>电线绝缘层损坏。</a:t>
            </a:r>
            <a:endParaRPr lang="zh-CN" altLang="en-US" sz="3200"/>
          </a:p>
        </p:txBody>
      </p:sp>
      <p:pic>
        <p:nvPicPr>
          <p:cNvPr id="4" name="图片 3" descr="采用金属丝绑扎流动电箱的电源线、电线绝缘层损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691005"/>
            <a:ext cx="6384925" cy="4719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369945" cy="4351655"/>
          </a:xfrm>
        </p:spPr>
        <p:txBody>
          <a:bodyPr/>
          <a:p>
            <a:r>
              <a:rPr lang="en-US" altLang="zh-CN" sz="3200"/>
              <a:t>2.</a:t>
            </a:r>
            <a:r>
              <a:rPr lang="zh-CN" altLang="en-US" sz="3200"/>
              <a:t>出现机器电线断裂情况。</a:t>
            </a:r>
            <a:endParaRPr lang="zh-CN" altLang="en-US" sz="3200"/>
          </a:p>
        </p:txBody>
      </p:sp>
      <p:pic>
        <p:nvPicPr>
          <p:cNvPr id="4" name="图片 3" descr="出现机器电线断裂情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895" y="1691005"/>
            <a:ext cx="6853555" cy="4352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446145" cy="4351655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导线连接处未做绝缘处理；</a:t>
            </a:r>
            <a:endParaRPr lang="zh-CN" altLang="en-US"/>
          </a:p>
          <a:p>
            <a:r>
              <a:rPr lang="zh-CN" altLang="en-US"/>
              <a:t>电线随意拖拉；</a:t>
            </a:r>
            <a:endParaRPr lang="zh-CN" altLang="en-US"/>
          </a:p>
          <a:p>
            <a:r>
              <a:rPr lang="zh-CN" altLang="en-US"/>
              <a:t>电源线与焊机连接不牢固。</a:t>
            </a:r>
            <a:endParaRPr lang="zh-CN" altLang="en-US"/>
          </a:p>
        </p:txBody>
      </p:sp>
      <p:pic>
        <p:nvPicPr>
          <p:cNvPr id="4" name="图片 3" descr="导线连接处未做绝缘处理、电线随意拖拉、电源线与焊机连接不牢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065" y="1691005"/>
            <a:ext cx="6101080" cy="4575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209925" cy="4351655"/>
          </a:xfrm>
        </p:spPr>
        <p:txBody>
          <a:bodyPr/>
          <a:p>
            <a:r>
              <a:rPr lang="en-US" altLang="zh-CN" sz="3200"/>
              <a:t>4.</a:t>
            </a:r>
            <a:r>
              <a:rPr lang="zh-CN" altLang="en-US" sz="3200"/>
              <a:t>电焊机二次侧无防护罩；</a:t>
            </a:r>
            <a:endParaRPr lang="zh-CN" altLang="en-US" sz="3200"/>
          </a:p>
          <a:p>
            <a:r>
              <a:rPr lang="zh-CN" altLang="en-US" sz="3200"/>
              <a:t>电线与电焊机二次侧连接不牢固。</a:t>
            </a:r>
            <a:endParaRPr lang="zh-CN" altLang="en-US" sz="3200"/>
          </a:p>
        </p:txBody>
      </p:sp>
      <p:pic>
        <p:nvPicPr>
          <p:cNvPr id="4" name="图片 3" descr="电焊机二次侧无防护罩、电线与电焊机二次侧连接不牢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435" y="1717675"/>
            <a:ext cx="6603365" cy="4525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114165" cy="4351655"/>
          </a:xfrm>
        </p:spPr>
        <p:txBody>
          <a:bodyPr/>
          <a:p>
            <a:r>
              <a:rPr lang="en-US" altLang="zh-CN" sz="3200"/>
              <a:t>5.</a:t>
            </a:r>
            <a:r>
              <a:rPr lang="zh-CN" altLang="en-US" sz="3200"/>
              <a:t>电焊机接地线未固定；</a:t>
            </a:r>
            <a:endParaRPr lang="zh-CN" altLang="en-US" sz="3200"/>
          </a:p>
          <a:p>
            <a:r>
              <a:rPr lang="zh-CN" altLang="en-US" sz="3200"/>
              <a:t>使用螺纹钢做接地极；</a:t>
            </a:r>
            <a:endParaRPr lang="zh-CN" altLang="en-US" sz="3200"/>
          </a:p>
          <a:p>
            <a:r>
              <a:rPr lang="zh-CN" altLang="en-US" sz="3200"/>
              <a:t>焊机电源线外皮破损；</a:t>
            </a:r>
            <a:endParaRPr lang="zh-CN" altLang="en-US" sz="3200"/>
          </a:p>
          <a:p>
            <a:r>
              <a:rPr lang="zh-CN" altLang="en-US" sz="3200"/>
              <a:t>接地线非黄绿双色线。</a:t>
            </a:r>
            <a:endParaRPr lang="zh-CN" altLang="en-US" sz="3200"/>
          </a:p>
        </p:txBody>
      </p:sp>
      <p:pic>
        <p:nvPicPr>
          <p:cNvPr id="4" name="图片 3" descr="电焊机接地线未固定；使用螺纹钢做接地极；焊机电源线外皮破损；接地线非黄绿双色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315" y="1893570"/>
            <a:ext cx="5852795" cy="4044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171950" cy="4351655"/>
          </a:xfrm>
        </p:spPr>
        <p:txBody>
          <a:bodyPr>
            <a:noAutofit/>
          </a:bodyPr>
          <a:p>
            <a:r>
              <a:rPr lang="en-US" altLang="zh-CN" sz="3200"/>
              <a:t>6.</a:t>
            </a:r>
            <a:r>
              <a:rPr lang="zh-CN" altLang="en-US" sz="3200"/>
              <a:t>电机缺少防雨罩，无绝缘措施；</a:t>
            </a:r>
            <a:endParaRPr lang="zh-CN" altLang="en-US" sz="3200"/>
          </a:p>
          <a:p>
            <a:r>
              <a:rPr lang="zh-CN" altLang="en-US" sz="3200"/>
              <a:t>三条相线接线不牢固；</a:t>
            </a:r>
            <a:endParaRPr lang="zh-CN" altLang="en-US" sz="3200"/>
          </a:p>
          <a:p>
            <a:r>
              <a:rPr lang="zh-CN" altLang="en-US" sz="3200"/>
              <a:t>电机金属外壳未接地；</a:t>
            </a:r>
            <a:endParaRPr lang="zh-CN" altLang="en-US" sz="3200"/>
          </a:p>
          <a:p>
            <a:r>
              <a:rPr lang="zh-CN" altLang="en-US" sz="3200"/>
              <a:t>电机外壳锈蚀严重；</a:t>
            </a:r>
            <a:endParaRPr lang="zh-CN" altLang="en-US" sz="3200"/>
          </a:p>
          <a:p>
            <a:r>
              <a:rPr lang="zh-CN" altLang="en-US" sz="3200"/>
              <a:t>电机铭牌参数不清晰</a:t>
            </a:r>
            <a:endParaRPr lang="zh-CN" altLang="en-US" sz="3200"/>
          </a:p>
        </p:txBody>
      </p:sp>
      <p:pic>
        <p:nvPicPr>
          <p:cNvPr id="4" name="图片 3" descr="电机缺少防雨罩，无绝缘措施；三条相线接线不牢固；电机金属外壳未接地、电机外壳锈蚀严重、电机铭牌参数不清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190" y="1734185"/>
            <a:ext cx="6277610" cy="4225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295015" cy="4351655"/>
          </a:xfrm>
        </p:spPr>
        <p:txBody>
          <a:bodyPr/>
          <a:p>
            <a:r>
              <a:rPr lang="en-US" altLang="zh-CN" sz="3200"/>
              <a:t>7.</a:t>
            </a:r>
            <a:r>
              <a:rPr lang="zh-CN" altLang="en-US" sz="3200"/>
              <a:t>电缆存在绝缘破损情况。</a:t>
            </a:r>
            <a:endParaRPr lang="zh-CN" altLang="en-US" sz="3200"/>
          </a:p>
        </p:txBody>
      </p:sp>
      <p:pic>
        <p:nvPicPr>
          <p:cNvPr id="4" name="图片 3" descr="电缆存在绝缘破损情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975" y="1600200"/>
            <a:ext cx="6931025" cy="4316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030345" cy="4351655"/>
          </a:xfrm>
        </p:spPr>
        <p:txBody>
          <a:bodyPr/>
          <a:p>
            <a:r>
              <a:rPr lang="en-US" altLang="zh-CN" sz="3200"/>
              <a:t>8.</a:t>
            </a:r>
            <a:r>
              <a:rPr lang="zh-CN" altLang="en-US" sz="3200"/>
              <a:t>电缆线使用铁丝固定；</a:t>
            </a:r>
            <a:endParaRPr lang="zh-CN" altLang="en-US" sz="3200"/>
          </a:p>
          <a:p>
            <a:r>
              <a:rPr lang="zh-CN" altLang="en-US" sz="3200"/>
              <a:t>电缆线和钢结构在一起无隔离；</a:t>
            </a:r>
            <a:endParaRPr lang="zh-CN" altLang="en-US" sz="3200"/>
          </a:p>
          <a:p>
            <a:r>
              <a:rPr lang="zh-CN" altLang="en-US" sz="3200"/>
              <a:t>电缆线直接在钢梁上敷设。</a:t>
            </a:r>
            <a:endParaRPr lang="zh-CN" altLang="en-US" sz="3200"/>
          </a:p>
        </p:txBody>
      </p:sp>
      <p:pic>
        <p:nvPicPr>
          <p:cNvPr id="4" name="图片 3" descr="电缆线使用铁丝固定；电缆线和钢结构在一起无隔离；电缆线直接在钢梁上敷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370" y="1901190"/>
            <a:ext cx="6096000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122420" cy="4351655"/>
          </a:xfrm>
        </p:spPr>
        <p:txBody>
          <a:bodyPr/>
          <a:p>
            <a:r>
              <a:rPr lang="en-US" altLang="zh-CN" sz="3200"/>
              <a:t>9.</a:t>
            </a:r>
            <a:r>
              <a:rPr lang="zh-CN" altLang="en-US" sz="3200"/>
              <a:t>电缆线未加过路防护；</a:t>
            </a:r>
            <a:endParaRPr lang="zh-CN" altLang="en-US" sz="3200"/>
          </a:p>
          <a:p>
            <a:r>
              <a:rPr lang="zh-CN" altLang="en-US" sz="3200"/>
              <a:t>钢板压在电缆线上；</a:t>
            </a:r>
            <a:endParaRPr lang="zh-CN" altLang="en-US" sz="3200"/>
          </a:p>
          <a:p>
            <a:r>
              <a:rPr lang="zh-CN" altLang="en-US" sz="3200"/>
              <a:t>基坑无防护。</a:t>
            </a:r>
            <a:endParaRPr lang="zh-CN" altLang="en-US" sz="3200"/>
          </a:p>
        </p:txBody>
      </p:sp>
      <p:pic>
        <p:nvPicPr>
          <p:cNvPr id="4" name="图片 3" descr="电缆线未加过路防护；钢板压在电缆线上；基坑无防护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265" y="1691005"/>
            <a:ext cx="4626610" cy="4194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150235" cy="4351655"/>
          </a:xfrm>
        </p:spPr>
        <p:txBody>
          <a:bodyPr/>
          <a:p>
            <a:r>
              <a:rPr lang="en-US" altLang="zh-CN" sz="3200"/>
              <a:t>10.</a:t>
            </a:r>
            <a:r>
              <a:rPr lang="zh-CN" altLang="en-US" sz="3200"/>
              <a:t>电缆线未架空措施或埋地保护；</a:t>
            </a:r>
            <a:endParaRPr lang="zh-CN" altLang="en-US" sz="3200"/>
          </a:p>
          <a:p>
            <a:r>
              <a:rPr lang="zh-CN" altLang="en-US" sz="3200"/>
              <a:t>PE线使用附加线，拖拉电缆线时强度不够。</a:t>
            </a:r>
            <a:endParaRPr lang="zh-CN" altLang="en-US" sz="3200"/>
          </a:p>
        </p:txBody>
      </p:sp>
      <p:pic>
        <p:nvPicPr>
          <p:cNvPr id="4" name="图片 3" descr="电缆线未架空措施或埋地保护；PE线使用附加线，拖拉电缆线时强度不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285" y="1917700"/>
            <a:ext cx="6775450" cy="38665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241800" cy="4351655"/>
          </a:xfrm>
        </p:spPr>
        <p:txBody>
          <a:bodyPr>
            <a:noAutofit/>
          </a:bodyPr>
          <a:p>
            <a:r>
              <a:rPr lang="en-US" altLang="zh-CN" sz="3200">
                <a:sym typeface="+mn-ea"/>
              </a:rPr>
              <a:t>11.</a:t>
            </a:r>
            <a:r>
              <a:rPr lang="zh-CN" altLang="en-US" sz="3200">
                <a:sym typeface="+mn-ea"/>
              </a:rPr>
              <a:t>电气元件无防雨措施，未使用配电箱；</a:t>
            </a:r>
            <a:endParaRPr lang="zh-CN" altLang="en-US" sz="3200"/>
          </a:p>
          <a:p>
            <a:r>
              <a:rPr lang="zh-CN" altLang="en-US" sz="3200">
                <a:sym typeface="+mn-ea"/>
              </a:rPr>
              <a:t>刀闸铜片外露；</a:t>
            </a:r>
            <a:endParaRPr lang="zh-CN" altLang="en-US" sz="3200"/>
          </a:p>
          <a:p>
            <a:r>
              <a:rPr lang="zh-CN" altLang="en-US" sz="3200">
                <a:sym typeface="+mn-ea"/>
              </a:rPr>
              <a:t>左侧刀闸接线不符合规范要求；</a:t>
            </a:r>
            <a:endParaRPr lang="zh-CN" altLang="en-US" sz="3200"/>
          </a:p>
          <a:p>
            <a:r>
              <a:rPr lang="zh-CN" altLang="en-US" sz="3200">
                <a:sym typeface="+mn-ea"/>
              </a:rPr>
              <a:t>配电板的绝缘板非电木板；</a:t>
            </a:r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配电板随意放置未正确固定</a:t>
            </a:r>
            <a:endParaRPr lang="zh-CN" altLang="en-US" sz="3200"/>
          </a:p>
          <a:p>
            <a:endParaRPr lang="zh-CN" altLang="en-US" sz="3200"/>
          </a:p>
        </p:txBody>
      </p:sp>
      <p:pic>
        <p:nvPicPr>
          <p:cNvPr id="4" name="图片 3" descr="电气元件无防雨措施，未使用配电箱；刀闸铜片外露；左侧刀闸接线不符合规范要求；配电板的绝缘板非电木板，配电板随意放置未正确·固定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6515" y="1825625"/>
            <a:ext cx="609600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404870" cy="4351655"/>
          </a:xfrm>
        </p:spPr>
        <p:txBody>
          <a:bodyPr/>
          <a:p>
            <a:r>
              <a:rPr lang="en-US" altLang="zh-CN" sz="3200"/>
              <a:t>12.</a:t>
            </a:r>
            <a:r>
              <a:rPr lang="zh-CN" altLang="en-US" sz="3200"/>
              <a:t>电箱出线从箱门位置出，容易夹断电缆发生事故。</a:t>
            </a:r>
            <a:endParaRPr lang="zh-CN" altLang="en-US" sz="3200"/>
          </a:p>
        </p:txBody>
      </p:sp>
      <p:pic>
        <p:nvPicPr>
          <p:cNvPr id="4" name="图片 3" descr="电箱出线从箱门位置出，容易夹断电缆发生事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5770" y="1597025"/>
            <a:ext cx="709803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945890" cy="4351655"/>
          </a:xfrm>
        </p:spPr>
        <p:txBody>
          <a:bodyPr/>
          <a:p>
            <a:r>
              <a:rPr lang="en-US" altLang="zh-CN" sz="3200"/>
              <a:t>13.</a:t>
            </a:r>
            <a:r>
              <a:rPr lang="zh-CN" altLang="en-US" sz="3200"/>
              <a:t>电源进线不规范，箱内有杂物，倒放。</a:t>
            </a:r>
            <a:endParaRPr lang="zh-CN" altLang="en-US" sz="3200"/>
          </a:p>
        </p:txBody>
      </p:sp>
      <p:pic>
        <p:nvPicPr>
          <p:cNvPr id="4" name="图片 3" descr="电源进线不规范，箱内有杂物，倒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6180" y="1825625"/>
            <a:ext cx="6357620" cy="41948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726180" cy="4351655"/>
          </a:xfrm>
        </p:spPr>
        <p:txBody>
          <a:bodyPr/>
          <a:p>
            <a:r>
              <a:rPr lang="en-US" altLang="zh-CN" sz="3200"/>
              <a:t>14.</a:t>
            </a:r>
            <a:r>
              <a:rPr lang="zh-CN" altLang="en-US" sz="3200"/>
              <a:t>电源线随意拖拉</a:t>
            </a:r>
            <a:r>
              <a:rPr lang="en-US" altLang="zh-CN" sz="3200"/>
              <a:t>; </a:t>
            </a:r>
            <a:endParaRPr lang="en-US" altLang="zh-CN" sz="3200"/>
          </a:p>
          <a:p>
            <a:r>
              <a:rPr lang="zh-CN" altLang="en-US" sz="3200"/>
              <a:t>接头处理过于简单。</a:t>
            </a:r>
            <a:endParaRPr lang="zh-CN" altLang="en-US" sz="3200"/>
          </a:p>
        </p:txBody>
      </p:sp>
      <p:pic>
        <p:nvPicPr>
          <p:cNvPr id="4" name="图片 3" descr="电源线随意拖拉，接头处理过于简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240" y="1825625"/>
            <a:ext cx="6588760" cy="43732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258310" cy="4351655"/>
          </a:xfrm>
        </p:spPr>
        <p:txBody>
          <a:bodyPr/>
          <a:p>
            <a:r>
              <a:rPr lang="en-US" altLang="zh-CN" sz="3200"/>
              <a:t>15.</a:t>
            </a:r>
            <a:r>
              <a:rPr lang="zh-CN" altLang="en-US" sz="3200"/>
              <a:t>电源线直接和碘钨灯管接在一起；</a:t>
            </a:r>
            <a:endParaRPr lang="zh-CN" altLang="en-US" sz="3200"/>
          </a:p>
          <a:p>
            <a:r>
              <a:rPr lang="zh-CN" altLang="en-US" sz="3200"/>
              <a:t>草坪灯使用铁丝固定在角钢上，无绝缘措施。</a:t>
            </a:r>
            <a:endParaRPr lang="en-US" altLang="zh-CN" sz="3200"/>
          </a:p>
        </p:txBody>
      </p:sp>
      <p:pic>
        <p:nvPicPr>
          <p:cNvPr id="4" name="图片 3" descr="电源线直接和碘钨灯管接在一起；草坪灯使用铁丝固定在角钢上，无绝缘措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6510" y="1774190"/>
            <a:ext cx="6059170" cy="38341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01820" cy="4351655"/>
          </a:xfrm>
        </p:spPr>
        <p:txBody>
          <a:bodyPr/>
          <a:p>
            <a:r>
              <a:rPr lang="en-US" altLang="zh-CN" sz="3200"/>
              <a:t>16.</a:t>
            </a:r>
            <a:r>
              <a:rPr lang="zh-CN" altLang="en-US" sz="3200"/>
              <a:t>电闸箱无门、倒放；</a:t>
            </a:r>
            <a:endParaRPr lang="zh-CN" altLang="en-US" sz="3200"/>
          </a:p>
          <a:p>
            <a:r>
              <a:rPr lang="zh-CN" altLang="en-US" sz="3200"/>
              <a:t>电箱里灰尘过多。</a:t>
            </a:r>
            <a:endParaRPr lang="zh-CN" altLang="en-US" sz="3200"/>
          </a:p>
        </p:txBody>
      </p:sp>
      <p:pic>
        <p:nvPicPr>
          <p:cNvPr id="4" name="图片 3" descr="电闸箱无门、倒放，电箱里灰尘过多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6080" y="1825625"/>
            <a:ext cx="5747385" cy="38900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64710" cy="4351655"/>
          </a:xfrm>
        </p:spPr>
        <p:txBody>
          <a:bodyPr/>
          <a:p>
            <a:r>
              <a:rPr lang="en-US" altLang="zh-CN" sz="3200"/>
              <a:t>17.</a:t>
            </a:r>
            <a:r>
              <a:rPr lang="zh-CN" altLang="en-US" sz="3200"/>
              <a:t>灭火器压力低至红线区域；</a:t>
            </a:r>
            <a:endParaRPr lang="zh-CN" altLang="en-US" sz="3200"/>
          </a:p>
          <a:p>
            <a:r>
              <a:rPr lang="zh-CN" altLang="en-US" sz="3200"/>
              <a:t>灭火器插销没有铅封。</a:t>
            </a:r>
            <a:endParaRPr lang="zh-CN" altLang="en-US" sz="3200"/>
          </a:p>
        </p:txBody>
      </p:sp>
      <p:pic>
        <p:nvPicPr>
          <p:cNvPr id="4" name="图片 3" descr="灭火器压力低至红线区域；灭火器插销没有铅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0" y="1922145"/>
            <a:ext cx="5078095" cy="37064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387725" cy="4351655"/>
          </a:xfrm>
        </p:spPr>
        <p:txBody>
          <a:bodyPr/>
          <a:p>
            <a:r>
              <a:rPr lang="en-US" altLang="zh-CN" sz="3200"/>
              <a:t>18.</a:t>
            </a:r>
            <a:r>
              <a:rPr lang="zh-CN" altLang="en-US" sz="3200"/>
              <a:t>攀爬、登高未设置防护措施；</a:t>
            </a:r>
            <a:endParaRPr lang="zh-CN" altLang="en-US" sz="3200"/>
          </a:p>
          <a:p>
            <a:r>
              <a:rPr lang="zh-CN" altLang="en-US" sz="3200"/>
              <a:t>上下台阶不扶扶手；</a:t>
            </a:r>
            <a:endParaRPr lang="zh-CN" altLang="en-US" sz="3200"/>
          </a:p>
          <a:p>
            <a:r>
              <a:rPr lang="zh-CN" altLang="en-US" sz="3200"/>
              <a:t>未正确穿戴安全防护用具。</a:t>
            </a:r>
            <a:endParaRPr lang="zh-CN" altLang="en-US" sz="3200"/>
          </a:p>
        </p:txBody>
      </p:sp>
      <p:pic>
        <p:nvPicPr>
          <p:cNvPr id="4" name="图片 3" descr="攀爬、登高未设置防护措施，上下台阶不扶扶手，未正确穿戴安全防护用具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330" y="1856740"/>
            <a:ext cx="6572885" cy="3348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176270" cy="4351655"/>
          </a:xfrm>
        </p:spPr>
        <p:txBody>
          <a:bodyPr/>
          <a:p>
            <a:r>
              <a:rPr lang="en-US" altLang="zh-CN" sz="3200"/>
              <a:t>19.</a:t>
            </a:r>
            <a:r>
              <a:rPr lang="zh-CN" altLang="en-US" sz="3200"/>
              <a:t>配电箱、低压变压器无防砸措施；</a:t>
            </a:r>
            <a:endParaRPr lang="zh-CN" altLang="en-US" sz="3200"/>
          </a:p>
          <a:p>
            <a:r>
              <a:rPr lang="zh-CN" altLang="en-US" sz="3200"/>
              <a:t> 低压变压器应装箱使用，低压变压器未设置隔离装置。</a:t>
            </a:r>
            <a:endParaRPr lang="zh-CN" altLang="en-US" sz="3200"/>
          </a:p>
        </p:txBody>
      </p:sp>
      <p:pic>
        <p:nvPicPr>
          <p:cNvPr id="4" name="图片 3" descr="配电箱、低压变压器无防砸措施、低压变压器应装箱使用，低压变压器未设置隔离装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8640" y="1825625"/>
            <a:ext cx="6925310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81220" cy="4351655"/>
          </a:xfrm>
        </p:spPr>
        <p:txBody>
          <a:bodyPr/>
          <a:p>
            <a:r>
              <a:rPr lang="en-US" altLang="zh-CN" sz="3200"/>
              <a:t>20.</a:t>
            </a:r>
            <a:r>
              <a:rPr lang="zh-CN" altLang="en-US" sz="3200"/>
              <a:t>配电箱附近堆积大量金属杂物；</a:t>
            </a:r>
            <a:endParaRPr lang="zh-CN" altLang="en-US" sz="3200"/>
          </a:p>
          <a:p>
            <a:r>
              <a:rPr lang="zh-CN" altLang="en-US" sz="3200"/>
              <a:t>电缆缺少保护措施；</a:t>
            </a:r>
            <a:endParaRPr lang="zh-CN" altLang="en-US" sz="3200"/>
          </a:p>
          <a:p>
            <a:r>
              <a:rPr lang="zh-CN" altLang="en-US" sz="3200"/>
              <a:t>缺少防触电标志、负责人。</a:t>
            </a:r>
            <a:endParaRPr lang="zh-CN" altLang="en-US" sz="3200"/>
          </a:p>
        </p:txBody>
      </p:sp>
      <p:pic>
        <p:nvPicPr>
          <p:cNvPr id="4" name="图片 3" descr="配电箱附近堆积大量金属杂物，电缆缺少保护措施，缺少防触电标志、负责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2155" y="1920240"/>
            <a:ext cx="5404485" cy="36569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531870" cy="4351655"/>
          </a:xfrm>
        </p:spPr>
        <p:txBody>
          <a:bodyPr/>
          <a:p>
            <a:r>
              <a:rPr lang="en-US" altLang="zh-CN" sz="3200"/>
              <a:t>21.</a:t>
            </a:r>
            <a:r>
              <a:rPr lang="zh-CN" altLang="en-US" sz="3200"/>
              <a:t>配电箱内存在火线接线端子板带电明露；</a:t>
            </a:r>
            <a:endParaRPr lang="zh-CN" altLang="en-US" sz="3200"/>
          </a:p>
          <a:p>
            <a:r>
              <a:rPr lang="zh-CN" altLang="en-US" sz="3200"/>
              <a:t>元器件老化；</a:t>
            </a:r>
            <a:endParaRPr lang="zh-CN" altLang="en-US" sz="3200"/>
          </a:p>
          <a:p>
            <a:r>
              <a:rPr lang="zh-CN" altLang="en-US" sz="3200"/>
              <a:t>箱门与箱体之间缺少PE接地线；</a:t>
            </a:r>
            <a:endParaRPr lang="zh-CN" altLang="en-US" sz="3200"/>
          </a:p>
          <a:p>
            <a:r>
              <a:rPr lang="zh-CN" altLang="en-US" sz="3200"/>
              <a:t>出线不规范 。</a:t>
            </a:r>
            <a:endParaRPr lang="zh-CN" altLang="en-US" sz="3200"/>
          </a:p>
        </p:txBody>
      </p:sp>
      <p:pic>
        <p:nvPicPr>
          <p:cNvPr id="4" name="图片 3" descr="配电箱内存在火线接线端子板，带电明露、元器件老化、箱门与箱体之间缺少PE接地线、出线不规范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070" y="1758315"/>
            <a:ext cx="6873875" cy="46520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818890" cy="4351655"/>
          </a:xfrm>
        </p:spPr>
        <p:txBody>
          <a:bodyPr/>
          <a:p>
            <a:r>
              <a:rPr lang="en-US" altLang="zh-CN" sz="3200"/>
              <a:t>22.</a:t>
            </a:r>
            <a:r>
              <a:rPr lang="zh-CN" altLang="en-US" sz="3200"/>
              <a:t>配电箱内外存放大量杂物；</a:t>
            </a:r>
            <a:endParaRPr lang="zh-CN" altLang="en-US" sz="3200"/>
          </a:p>
          <a:p>
            <a:r>
              <a:rPr lang="zh-CN" altLang="en-US" sz="3200"/>
              <a:t>箱体无门；</a:t>
            </a:r>
            <a:endParaRPr lang="zh-CN" altLang="en-US" sz="3200"/>
          </a:p>
          <a:p>
            <a:r>
              <a:rPr lang="zh-CN" altLang="en-US" sz="3200"/>
              <a:t>电器之间距离偏小；带电明露；</a:t>
            </a:r>
            <a:endParaRPr lang="zh-CN" altLang="en-US" sz="3200"/>
          </a:p>
          <a:p>
            <a:r>
              <a:rPr lang="zh-CN" altLang="en-US" sz="3200"/>
              <a:t>元器件老化。</a:t>
            </a:r>
            <a:endParaRPr lang="zh-CN" altLang="en-US" sz="3200"/>
          </a:p>
        </p:txBody>
      </p:sp>
      <p:pic>
        <p:nvPicPr>
          <p:cNvPr id="4" name="图片 3" descr="配电箱内外存放大量杂物，箱体无门，电器之间距离偏小，带电明露，元器件老化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0955" y="1825625"/>
            <a:ext cx="6252845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098290" cy="4351655"/>
          </a:xfrm>
        </p:spPr>
        <p:txBody>
          <a:bodyPr/>
          <a:p>
            <a:r>
              <a:rPr lang="en-US" altLang="zh-CN" sz="3200"/>
              <a:t>23.</a:t>
            </a:r>
            <a:r>
              <a:rPr lang="zh-CN" altLang="en-US" sz="3200"/>
              <a:t>设备专用开关箱安装位置距地面距离偏小,且箱内存放杂物，不符合“一机一闸一保护”；</a:t>
            </a:r>
            <a:endParaRPr lang="zh-CN" altLang="en-US" sz="3200"/>
          </a:p>
          <a:p>
            <a:r>
              <a:rPr lang="zh-CN" altLang="en-US" sz="3200"/>
              <a:t>开关箱四周存放大量杂物。</a:t>
            </a:r>
            <a:endParaRPr lang="zh-CN" altLang="en-US" sz="3200"/>
          </a:p>
        </p:txBody>
      </p:sp>
      <p:pic>
        <p:nvPicPr>
          <p:cNvPr id="4" name="图片 3" descr="设备专用开关箱安装位置距地面距离偏小,且箱内存放杂物，不符合“一机一闸一保护”开关箱四周存放大量杂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8425" y="1825625"/>
            <a:ext cx="6175375" cy="39998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19600" cy="4351655"/>
          </a:xfrm>
        </p:spPr>
        <p:txBody>
          <a:bodyPr/>
          <a:p>
            <a:r>
              <a:rPr lang="en-US" altLang="zh-CN" sz="3200"/>
              <a:t>24.</a:t>
            </a:r>
            <a:r>
              <a:rPr lang="zh-CN" altLang="en-US" sz="3200"/>
              <a:t>使用民用插盘、并有火花斑迹；</a:t>
            </a:r>
            <a:endParaRPr lang="zh-CN" altLang="en-US" sz="3200"/>
          </a:p>
          <a:p>
            <a:r>
              <a:rPr lang="zh-CN" altLang="en-US" sz="3200"/>
              <a:t>插线盘缺少漏电保护器，插头已断裂。</a:t>
            </a:r>
            <a:endParaRPr lang="zh-CN" altLang="en-US" sz="3200"/>
          </a:p>
        </p:txBody>
      </p:sp>
      <p:pic>
        <p:nvPicPr>
          <p:cNvPr id="4" name="图片 3" descr="使用民用插盘、并有火花斑迹；插线盘缺少漏电保护器，插头已断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3530" y="1825625"/>
            <a:ext cx="591312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547110" cy="4351655"/>
          </a:xfrm>
        </p:spPr>
        <p:txBody>
          <a:bodyPr/>
          <a:p>
            <a:r>
              <a:rPr lang="en-US" altLang="zh-CN" sz="3200"/>
              <a:t>25.</a:t>
            </a:r>
            <a:r>
              <a:rPr lang="zh-CN" altLang="en-US" sz="3200"/>
              <a:t>手持电动工具未戴绝缘手套；</a:t>
            </a:r>
            <a:endParaRPr lang="zh-CN" altLang="en-US" sz="3200"/>
          </a:p>
          <a:p>
            <a:r>
              <a:rPr lang="zh-CN" altLang="en-US" sz="3200"/>
              <a:t>电动工具随意摆放；</a:t>
            </a:r>
            <a:endParaRPr lang="zh-CN" altLang="en-US" sz="3200"/>
          </a:p>
          <a:p>
            <a:r>
              <a:rPr lang="zh-CN" altLang="en-US" sz="3200"/>
              <a:t>物料固定方式不正确；</a:t>
            </a:r>
            <a:endParaRPr lang="zh-CN" altLang="en-US" sz="3200"/>
          </a:p>
          <a:p>
            <a:r>
              <a:rPr lang="zh-CN" altLang="en-US" sz="3200"/>
              <a:t>未佩戴防护眼镜；</a:t>
            </a:r>
            <a:endParaRPr lang="zh-CN" altLang="en-US" sz="3200"/>
          </a:p>
          <a:p>
            <a:r>
              <a:rPr lang="zh-CN" altLang="en-US" sz="3200"/>
              <a:t>电缆随意拖拉。</a:t>
            </a:r>
            <a:endParaRPr lang="zh-CN" altLang="en-US" sz="3200"/>
          </a:p>
        </p:txBody>
      </p:sp>
      <p:pic>
        <p:nvPicPr>
          <p:cNvPr id="4" name="图片 3" descr="手持电动工具未戴绝缘手套，电动工具随意摆放，物料固定方式不正确，未佩戴防护眼镜，电缆随意拖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2175" y="1825625"/>
            <a:ext cx="6589395" cy="42405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980690" cy="4351655"/>
          </a:xfrm>
        </p:spPr>
        <p:txBody>
          <a:bodyPr/>
          <a:p>
            <a:r>
              <a:rPr lang="en-US" altLang="zh-CN" sz="3200"/>
              <a:t>26.</a:t>
            </a:r>
            <a:r>
              <a:rPr lang="zh-CN" altLang="en-US" sz="3200"/>
              <a:t>随意拖拉照明电线。</a:t>
            </a:r>
            <a:endParaRPr lang="zh-CN" altLang="en-US" sz="3200"/>
          </a:p>
        </p:txBody>
      </p:sp>
      <p:pic>
        <p:nvPicPr>
          <p:cNvPr id="4" name="图片 3" descr="随意拖拉照明电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1670" y="1825625"/>
            <a:ext cx="6882130" cy="45046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725545" cy="4351655"/>
          </a:xfrm>
        </p:spPr>
        <p:txBody>
          <a:bodyPr/>
          <a:p>
            <a:r>
              <a:rPr lang="en-US" altLang="zh-CN" sz="3200"/>
              <a:t>27.</a:t>
            </a:r>
            <a:r>
              <a:rPr lang="zh-CN" altLang="en-US" sz="3200"/>
              <a:t>违章从总空开下口接线，不符合一机一闸一保护。</a:t>
            </a:r>
            <a:endParaRPr lang="zh-CN" altLang="en-US" sz="3200"/>
          </a:p>
        </p:txBody>
      </p:sp>
      <p:pic>
        <p:nvPicPr>
          <p:cNvPr id="4" name="图片 3" descr="违章从总空开下口接线，不符合一机一闸一保护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985" y="1864360"/>
            <a:ext cx="6393815" cy="42741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852545" cy="4351655"/>
          </a:xfrm>
        </p:spPr>
        <p:txBody>
          <a:bodyPr/>
          <a:p>
            <a:r>
              <a:rPr lang="en-US" altLang="zh-CN" sz="3200"/>
              <a:t>28.</a:t>
            </a:r>
            <a:r>
              <a:rPr lang="zh-CN" altLang="en-US" sz="3200"/>
              <a:t>无插头--用导线当插头。</a:t>
            </a:r>
            <a:endParaRPr lang="zh-CN" altLang="en-US" sz="3200"/>
          </a:p>
        </p:txBody>
      </p:sp>
      <p:pic>
        <p:nvPicPr>
          <p:cNvPr id="4" name="图片 3" descr="无插头--用导线当插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555" y="1819910"/>
            <a:ext cx="6329680" cy="43573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311525" cy="4351655"/>
          </a:xfrm>
        </p:spPr>
        <p:txBody>
          <a:bodyPr/>
          <a:p>
            <a:r>
              <a:rPr lang="en-US" altLang="zh-CN" sz="3200"/>
              <a:t>29.</a:t>
            </a:r>
            <a:r>
              <a:rPr lang="zh-CN" altLang="en-US" sz="3200"/>
              <a:t>箱内出线断线；</a:t>
            </a:r>
            <a:endParaRPr lang="zh-CN" altLang="en-US" sz="3200"/>
          </a:p>
          <a:p>
            <a:r>
              <a:rPr lang="zh-CN" altLang="en-US" sz="3200"/>
              <a:t>带电明露；</a:t>
            </a:r>
            <a:endParaRPr lang="zh-CN" altLang="en-US" sz="3200"/>
          </a:p>
          <a:p>
            <a:r>
              <a:rPr lang="zh-CN" altLang="en-US" sz="3200"/>
              <a:t>电气距离偏小。</a:t>
            </a:r>
            <a:endParaRPr lang="zh-CN" altLang="en-US" sz="3200"/>
          </a:p>
        </p:txBody>
      </p:sp>
      <p:pic>
        <p:nvPicPr>
          <p:cNvPr id="4" name="图片 3" descr="箱内出线断线，带电明露，电气距离偏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130" y="1825625"/>
            <a:ext cx="7138670" cy="46450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862580" cy="4351655"/>
          </a:xfrm>
        </p:spPr>
        <p:txBody>
          <a:bodyPr/>
          <a:p>
            <a:r>
              <a:rPr lang="en-US" altLang="zh-CN" sz="3200"/>
              <a:t>30.</a:t>
            </a:r>
            <a:r>
              <a:rPr lang="zh-CN" altLang="en-US" sz="3200"/>
              <a:t>箱体未密封</a:t>
            </a:r>
            <a:endParaRPr lang="zh-CN" altLang="en-US" sz="3200"/>
          </a:p>
        </p:txBody>
      </p:sp>
      <p:pic>
        <p:nvPicPr>
          <p:cNvPr id="4" name="图片 3" descr="箱体未密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840" y="1932940"/>
            <a:ext cx="5944870" cy="39128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WPS 演示</Application>
  <PresentationFormat>宽屏</PresentationFormat>
  <Paragraphs>106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亁业考点低压电工 科目三  隐患排查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东海龙王</cp:lastModifiedBy>
  <cp:revision>6</cp:revision>
  <dcterms:created xsi:type="dcterms:W3CDTF">2025-06-18T03:07:00Z</dcterms:created>
  <dcterms:modified xsi:type="dcterms:W3CDTF">2025-07-19T11:57:08Z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647D36BE48174BCCAC4E99302DA55EF3_13</vt:lpwstr>
  </property>
</Properties>
</file>